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6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 00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NCR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1F5F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Rev.00 Rows</c:v>
                </c:pt>
              </c:strCache>
            </c:strRef>
          </c:tx>
          <c:spPr>
            <a:solidFill>
              <a:srgbClr val="2F75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Further Rev. Rows</c:v>
                </c:pt>
              </c:strCache>
            </c:strRef>
          </c:tx>
          <c:spPr>
            <a:solidFill>
              <a:srgbClr val="BDD7E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STR</c:v>
                  </c:pt>
                  <c:pt idx="1">
                    <c:v>Arch</c:v>
                  </c:pt>
                  <c:pt idx="2">
                    <c:v>Mech</c:v>
                  </c:pt>
                  <c:pt idx="3">
                    <c:v>Elec</c:v>
                  </c:pt>
                  <c:pt idx="4">
                    <c:v>Infra</c:v>
                  </c:pt>
                  <c:pt idx="5">
                    <c:v>Landscape</c:v>
                  </c:pt>
                  <c:pt idx="6">
                    <c:v>HSE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70AD47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Closed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Status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FC000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Pending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RUCTUSIGHT_MA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31520"/>
            <a:ext cx="9144000" cy="4572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864608"/>
            <a:ext cx="9144000" cy="278892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4882896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Enterprise Report  |  Generated: 17 October 2026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0" y="91440"/>
            <a:ext cx="822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75488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550" dirty="0"/>
          </a:p>
        </p:txBody>
      </p:sp>
      <p:sp>
        <p:nvSpPr>
          <p:cNvPr id="9" name="Text 7"/>
          <p:cNvSpPr/>
          <p:nvPr/>
        </p:nvSpPr>
        <p:spPr>
          <a:xfrm>
            <a:off x="475488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StructuSight NCR Rem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75488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PARCEL/CODE</a:t>
            </a:r>
            <a:endParaRPr lang="en-US" sz="550" dirty="0"/>
          </a:p>
        </p:txBody>
      </p:sp>
      <p:sp>
        <p:nvSpPr>
          <p:cNvPr id="11" name="Text 9"/>
          <p:cNvSpPr/>
          <p:nvPr/>
        </p:nvSpPr>
        <p:spPr>
          <a:xfrm>
            <a:off x="475488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SS-NCR-01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585216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550" dirty="0"/>
          </a:p>
        </p:txBody>
      </p:sp>
      <p:sp>
        <p:nvSpPr>
          <p:cNvPr id="13" name="Text 11"/>
          <p:cNvSpPr/>
          <p:nvPr/>
        </p:nvSpPr>
        <p:spPr>
          <a:xfrm>
            <a:off x="585216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585216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550" dirty="0"/>
          </a:p>
        </p:txBody>
      </p:sp>
      <p:sp>
        <p:nvSpPr>
          <p:cNvPr id="15" name="Text 13"/>
          <p:cNvSpPr/>
          <p:nvPr/>
        </p:nvSpPr>
        <p:spPr>
          <a:xfrm>
            <a:off x="585216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6949440" y="109728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</a:t>
            </a:r>
            <a:endParaRPr lang="en-US" sz="550" dirty="0"/>
          </a:p>
        </p:txBody>
      </p:sp>
      <p:sp>
        <p:nvSpPr>
          <p:cNvPr id="17" name="Text 15"/>
          <p:cNvSpPr/>
          <p:nvPr/>
        </p:nvSpPr>
        <p:spPr>
          <a:xfrm>
            <a:off x="6949440" y="228600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 2026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6949440" y="411480"/>
            <a:ext cx="10058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CONFIDENTIALITY</a:t>
            </a:r>
            <a:endParaRPr lang="en-US" sz="550" dirty="0"/>
          </a:p>
        </p:txBody>
      </p:sp>
      <p:sp>
        <p:nvSpPr>
          <p:cNvPr id="19" name="Text 17"/>
          <p:cNvSpPr/>
          <p:nvPr/>
        </p:nvSpPr>
        <p:spPr>
          <a:xfrm>
            <a:off x="6949440" y="530352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91440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64592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PERFORMANCE PRESENTATION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246888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6517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" y="3200400"/>
            <a:ext cx="5029200" cy="18288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3832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Date: October 17, 2026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7490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[Main Contractor]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0" y="731520"/>
            <a:ext cx="1920240" cy="1097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03720" y="777240"/>
            <a:ext cx="1828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0A192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828800"/>
            <a:ext cx="2011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2926080"/>
            <a:ext cx="201168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0" y="365760"/>
            <a:ext cx="128016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43800" y="4114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0" y="86868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749040" y="86868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 &amp; Management Team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200400" y="1252728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749040" y="1252728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Analytics Dossier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0" y="1636776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749040" y="1636776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Analytics Dossier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00400" y="2020824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749040" y="2020824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Detailed Quality Analysis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200400" y="2404872"/>
            <a:ext cx="384048" cy="237744"/>
          </a:xfrm>
          <a:prstGeom prst="rect">
            <a:avLst/>
          </a:prstGeom>
          <a:solidFill>
            <a:srgbClr val="C0000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749040" y="2404872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Rejected Items Requiring Resubmission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00400" y="2788920"/>
            <a:ext cx="384048" cy="237744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749040" y="2788920"/>
            <a:ext cx="4846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Pending Items Overdue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200400" y="4709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Intelligence  |  [October 2026]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PROJECT INFORMATION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Members &amp; Project Details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INFORMATION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Corp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42900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Consultant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371600"/>
            <a:ext cx="24688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26480" y="1371600"/>
            <a:ext cx="2468880" cy="320040"/>
          </a:xfrm>
          <a:prstGeom prst="rect">
            <a:avLst/>
          </a:prstGeom>
          <a:solidFill>
            <a:srgbClr val="0A192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/ PM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17920" y="17373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 Lead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017520"/>
            <a:ext cx="384048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017520"/>
            <a:ext cx="3840480" cy="320040"/>
          </a:xfrm>
          <a:prstGeom prst="rect">
            <a:avLst/>
          </a:prstGeom>
          <a:solidFill>
            <a:srgbClr val="5B9BD5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Manager / Team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46320" y="338328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Lead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MONTHLY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131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PRIMARY DETAIL REGISTER BREAKDOWN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CUMULATIVE PERFORMANCE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Executive Dashboard &amp; KPIs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PERFORMANCE &amp; KPI OVERVIEW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8412480" cy="475488"/>
          </a:xfrm>
          <a:prstGeom prst="roundRect">
            <a:avLst/>
          </a:prstGeom>
          <a:solidFill>
            <a:srgbClr val="203864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896112"/>
            <a:ext cx="82296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BRIEF &amp; INTELLIGENCE: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health is satisfactory at 65/100, but is experiencing minor delays in submittal flows. Focus should be given to closing out the current pending review queue of 0 items.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SHEETS (WORKLOAD)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114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Rev0: 0 | Further: 0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178308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2880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ITEMS (CURRENT STATE)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82880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82880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App: 0 | Rej: 0 | Pnd: 0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320040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RATE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24612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4612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4617720" y="1417320"/>
            <a:ext cx="1325880" cy="114300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6344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POPULATION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66344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6344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Pending: 0 | Rej Open: 0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6035040" y="1417320"/>
            <a:ext cx="1325880" cy="114300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8076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OVERDUE (OF ACTIVE)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08076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11D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8076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 overdue rate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7452360" y="1417320"/>
            <a:ext cx="1325880" cy="11430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98080" y="1508760"/>
            <a:ext cx="1234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PRIORITY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173736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498080" y="21945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Derived Priority Attribute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365760" y="2651760"/>
            <a:ext cx="27432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2724912"/>
            <a:ext cx="25603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PERFORMANCE INDEX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7200" y="2907792"/>
            <a:ext cx="1097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1554480" y="3035808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100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57200" y="336499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2F7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BAND: GOOD / SATISFACTORY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57200" y="3547872"/>
            <a:ext cx="2560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 STATUS: Controlled SLA Exposure (0 Overdue)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57200" y="3767328"/>
            <a:ext cx="2560320" cy="84124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2920" y="3794760"/>
            <a:ext cx="24688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Math &amp; Audit Formula: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02920" y="395935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P1 (Approval Penalty - 35%): -35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P2 (Overdue Ratio - 35%): -0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P3 (Overdue Density - 30%): -0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3291840" y="2651760"/>
            <a:ext cx="548640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74720" y="2743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ANALYTICAL OBSERVATIONS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4720" y="2999232"/>
            <a:ext cx="512064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Approval Quality: Currently at 0.0%. Below the 80% benchmark, requiring pre-submission QA checks to reduce rework.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Active Backlog Status: All 0 active items (0 Rejected/Open and 0 Pending Review) are progressing within SLA limits with zero overdue items.</a:t>
            </a:r>
            <a:endParaRPr lang="en-US" sz="800" dirty="0"/>
          </a:p>
          <a:p>
            <a:pPr algn="l" indent="0" marL="0">
              <a:buNone/>
            </a:pPr>
            <a:endParaRPr lang="en-US" sz="800" dirty="0"/>
          </a:p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Cycle Analysis: Resubmissions represent 0.0% of total document workload, demonstrating significant rework volume.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STATUS CHARTS &amp; CRITICAL BOTTLENECKS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402336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32688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SUBMITTALS STATUS DISTRIBUTION (SSOT)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0" y="868680"/>
            <a:ext cx="4206240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63440" y="932688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SUBMISSION LOAD BY REGISTER TYPE (TOP 8)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663440" y="1170432"/>
          <a:ext cx="40233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365760" y="3017520"/>
            <a:ext cx="8412480" cy="1719072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200" y="3063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BE1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CRITICAL OVERDUE BOTTLENECKS &amp; ACTION OWNERS: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33756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377440"/>
                <a:gridCol w="914400"/>
                <a:gridCol w="914400"/>
                <a:gridCol w="914400"/>
                <a:gridCol w="1645920"/>
                <a:gridCol w="9144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Document Reference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Discipline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Action Owner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Submission Date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#1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E293B"/>
                          </a:solidFill>
                        </a:rPr>
                        <a:t>ACE-NCR-L200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NCR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4155"/>
                          </a:solidFill>
                        </a:rPr>
                        <a:t>Landscape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E123C"/>
                          </a:solidFill>
                        </a:rPr>
                        <a:t>131 days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</a:rPr>
                        <a:t>Lead Consultant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64748B"/>
                          </a:solidFill>
                        </a:rPr>
                        <a:t>2026-06-08</a:t>
                      </a:r>
                      <a:endParaRPr lang="en-US" sz="75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E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PRIMARY DETAIL REGISTER BREAKDOWN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56032" y="1005840"/>
          <a:ext cx="8641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85800"/>
                <a:gridCol w="566928"/>
                <a:gridCol w="621792"/>
                <a:gridCol w="621792"/>
                <a:gridCol w="621792"/>
                <a:gridCol w="621792"/>
                <a:gridCol w="566928"/>
                <a:gridCol w="621792"/>
                <a:gridCol w="621792"/>
                <a:gridCol w="621792"/>
                <a:gridCol w="621792"/>
                <a:gridCol w="56692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Log Type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Rev.00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Further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Rev.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415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App/Cls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F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Rej/Opn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1B1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Row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2400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Total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Unique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Appr.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E123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 Rej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Closed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813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Cur.</a:t>
                      </a:r>
                      <a:endParaRPr lang="en-US" sz="900" dirty="0"/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Pend.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770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NCR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TOTAL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</a:rPr>
                        <a:t>-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03864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F172A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BD5E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65F46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91B1B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92400E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E3A8A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47857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E123C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881337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97706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25400" marR="25400" marT="25400" marB="2540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STRATEGIC RECOMMENDATIONS &amp; ACTION PLAN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2920" y="1097280"/>
            <a:ext cx="1097280" cy="256032"/>
          </a:xfrm>
          <a:prstGeom prst="roundRect">
            <a:avLst/>
          </a:prstGeom>
          <a:solidFill>
            <a:srgbClr val="FFF7ED"/>
          </a:solidFill>
          <a:ln w="635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6916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NCR Quality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Convene a focused technical alignment session between Innovo &amp; ACE teams specifically for NCR (which holds 1 active/open unique items) to align on submittal compliance.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069080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097280"/>
            <a:ext cx="1097280" cy="256032"/>
          </a:xfrm>
          <a:prstGeom prst="roundRect">
            <a:avLst/>
          </a:prstGeom>
          <a:solidFill>
            <a:srgbClr val="EFF6FF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46320" y="1115568"/>
            <a:ext cx="1097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035040" y="1097280"/>
            <a:ext cx="2606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 Pre-QA/QC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846320" y="1417320"/>
            <a:ext cx="3794760" cy="9144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490472"/>
            <a:ext cx="37947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Strengthen internal QA/QC pre-submission checklists to improve first-time approval rates from 0.0% toward the 80%+ corporate target.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NON-CONFORMANCE REPORT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Log &amp; Quality Charts for NON-CONFORMANCE REPORT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THIS PERIOD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(This Period)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43000"/>
          <a:ext cx="5303520" cy="914400"/>
        </p:xfrm>
        <a:graphic>
          <a:graphicData uri="http://schemas.openxmlformats.org/drawingml/2006/table">
            <a:tbl>
              <a:tblPr/>
              <a:tblGrid>
                <a:gridCol w="932688"/>
                <a:gridCol w="630936"/>
                <a:gridCol w="630936"/>
                <a:gridCol w="630936"/>
                <a:gridCol w="548640"/>
                <a:gridCol w="640080"/>
                <a:gridCol w="621792"/>
                <a:gridCol w="667512"/>
              </a:tblGrid>
              <a:tr h="0">
                <a:tc gridSpan="8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&amp; REVISION WORKLOAD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864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Discipline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Unique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NCRs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Further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Revisions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Source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Closed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Pending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F75B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Infra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Landscape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038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9050" marR="19050" marT="25400" marB="25400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0" descr=""/>
          <p:cNvGraphicFramePr/>
          <p:nvPr/>
        </p:nvGraphicFramePr>
        <p:xfrm>
          <a:off x="5650992" y="1143000"/>
          <a:ext cx="3218688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NON-CONFORMANCE REPORT (NCR) CUMULATIVE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</a:rPr>
              <a:t>NCR Quality Approval (Cumulative)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STR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32004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Arch</a:t>
            </a:r>
            <a:endParaRPr lang="en-US" sz="1000" dirty="0"/>
          </a:p>
        </p:txBody>
      </p:sp>
      <p:graphicFrame>
        <p:nvGraphicFramePr>
          <p:cNvPr id="7" name="Chart 1" descr=""/>
          <p:cNvGraphicFramePr/>
          <p:nvPr/>
        </p:nvGraphicFramePr>
        <p:xfrm>
          <a:off x="3200400" y="146304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943600" y="12344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Mech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943600" y="146304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4572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Elec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32004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Infra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00400" y="3154680"/>
            <a:ext cx="237744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9999"/>
                </a:solidFill>
              </a:rPr>
              <a:t>No Data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5943600" y="29260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A5F"/>
                </a:solidFill>
              </a:rPr>
              <a:t>Landscape</a:t>
            </a:r>
            <a:endParaRPr lang="en-US" sz="1000" dirty="0"/>
          </a:p>
        </p:txBody>
      </p:sp>
      <p:graphicFrame>
        <p:nvGraphicFramePr>
          <p:cNvPr id="15" name="Chart 2" descr=""/>
          <p:cNvGraphicFramePr/>
          <p:nvPr/>
        </p:nvGraphicFramePr>
        <p:xfrm>
          <a:off x="5943600" y="3154680"/>
          <a:ext cx="2377440" cy="1325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II: DETAILED ANALYTICS DOSSIER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Analytics Dossier &amp; Complete Historical Registers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HISTORICAL REJECTION EVENTS / ROWS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&amp; Rows (Contractor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REJECTION EVENTS / ROWS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1515"/>
                </a:solidFill>
              </a:rPr>
              <a:t>Historical Rejection Events / Rows by Delay (Total: 1) - Page 1 of 1</a:t>
            </a:r>
            <a:endParaRPr lang="en-US" sz="13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151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7A1515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ACE-NCR-A100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Architectural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8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PENDING ITEMS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Requiring Response (Consultant Action)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4389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PENDING ITEMS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92F"/>
                </a:solidFill>
              </a:rPr>
              <a:t>Pending Review Items Overdue by SLA (Total: 1) - Page 1 of 1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2926080"/>
                <a:gridCol w="1371600"/>
                <a:gridCol w="20116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No.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Type of Documents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 / Link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Trade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Delay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9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A192F"/>
                          </a:solidFill>
                        </a:rPr>
                        <a:t>NCR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ACE-NCR-L200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333333"/>
                          </a:solidFill>
                        </a:rPr>
                        <a:t>Landscape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C00000"/>
                          </a:solidFill>
                        </a:rPr>
                        <a:t>Overdue 131 days</a:t>
                      </a:r>
                      <a:endParaRPr lang="en-US" sz="850" dirty="0"/>
                    </a:p>
                  </a:txBody>
                  <a:tcPr marL="25400" marR="25400" marT="25400" marB="25400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82896"/>
            <a:ext cx="54864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5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1371600" y="1645920"/>
            <a:ext cx="5943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Control Team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589520" y="365760"/>
            <a:ext cx="1188720" cy="7315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35240" y="411480"/>
            <a:ext cx="1097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Contractor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371600" y="3840480"/>
            <a:ext cx="6400800" cy="27432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8" name="Text 6"/>
          <p:cNvSpPr/>
          <p:nvPr/>
        </p:nvSpPr>
        <p:spPr>
          <a:xfrm>
            <a:off x="1371600" y="39319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[StructuSight NCR Remediation Verification]  |  Document Control Analytics Platform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Corporate Management Report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StructuSight Intelligence - Presentation Report</dc:title>
  <dc:subject>PptxGenJS Presentation</dc:subject>
  <dc:creator>StructuSight Engineering Intelligence Platform</dc:creator>
  <cp:lastModifiedBy>StructuSight Engineering Intelligence Platform</cp:lastModifiedBy>
  <cp:revision>1</cp:revision>
  <dcterms:created xsi:type="dcterms:W3CDTF">2026-10-17T12:49:28Z</dcterms:created>
  <dcterms:modified xsi:type="dcterms:W3CDTF">2026-10-17T12:49:28Z</dcterms:modified>
</cp:coreProperties>
</file>