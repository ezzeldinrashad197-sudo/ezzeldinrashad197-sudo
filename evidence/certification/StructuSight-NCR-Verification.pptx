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 00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Revs</c:v>
                </c:pt>
              </c:strCache>
            </c:strRef>
          </c:tx>
          <c:spPr>
            <a:solidFill>
              <a:srgbClr val="93C5F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1F5F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 00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Revs</c:v>
                </c:pt>
              </c:strCache>
            </c:strRef>
          </c:tx>
          <c:spPr>
            <a:solidFill>
              <a:srgbClr val="93C5F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1F5F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Rev.00 Rows</c:v>
                </c:pt>
              </c:strCache>
            </c:strRef>
          </c:tx>
          <c:spPr>
            <a:solidFill>
              <a:srgbClr val="2F75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Rev. Rows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0AD4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Closed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C00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Pending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Rev.00 Rows</c:v>
                </c:pt>
              </c:strCache>
            </c:strRef>
          </c:tx>
          <c:spPr>
            <a:solidFill>
              <a:srgbClr val="2F75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Rev. Rows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0AD4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Closed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0AD4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Closed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C00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Pending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RUCTUSIGHT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1520"/>
            <a:ext cx="9144000" cy="4572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Enterprise Report  |  Generated: 12 October 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8046720" y="91440"/>
            <a:ext cx="82296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9144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754880" y="109728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550" dirty="0"/>
          </a:p>
        </p:txBody>
      </p:sp>
      <p:sp>
        <p:nvSpPr>
          <p:cNvPr id="9" name="Text 7"/>
          <p:cNvSpPr/>
          <p:nvPr/>
        </p:nvSpPr>
        <p:spPr>
          <a:xfrm>
            <a:off x="4754880" y="22860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StructuSight NCR Rem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754880" y="411480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PARCEL/CODE</a:t>
            </a:r>
            <a:endParaRPr lang="en-US" sz="550" dirty="0"/>
          </a:p>
        </p:txBody>
      </p:sp>
      <p:sp>
        <p:nvSpPr>
          <p:cNvPr id="11" name="Text 9"/>
          <p:cNvSpPr/>
          <p:nvPr/>
        </p:nvSpPr>
        <p:spPr>
          <a:xfrm>
            <a:off x="4754880" y="53035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SS-NCR-01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5852160" y="109728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</a:t>
            </a:r>
            <a:endParaRPr lang="en-US" sz="550" dirty="0"/>
          </a:p>
        </p:txBody>
      </p:sp>
      <p:sp>
        <p:nvSpPr>
          <p:cNvPr id="13" name="Text 11"/>
          <p:cNvSpPr/>
          <p:nvPr/>
        </p:nvSpPr>
        <p:spPr>
          <a:xfrm>
            <a:off x="5852160" y="22860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852160" y="411480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</a:t>
            </a:r>
            <a:endParaRPr lang="en-US" sz="550" dirty="0"/>
          </a:p>
        </p:txBody>
      </p:sp>
      <p:sp>
        <p:nvSpPr>
          <p:cNvPr id="15" name="Text 13"/>
          <p:cNvSpPr/>
          <p:nvPr/>
        </p:nvSpPr>
        <p:spPr>
          <a:xfrm>
            <a:off x="5852160" y="53035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Consultant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6949440" y="109728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</a:t>
            </a:r>
            <a:endParaRPr lang="en-US" sz="550" dirty="0"/>
          </a:p>
        </p:txBody>
      </p:sp>
      <p:sp>
        <p:nvSpPr>
          <p:cNvPr id="17" name="Text 15"/>
          <p:cNvSpPr/>
          <p:nvPr/>
        </p:nvSpPr>
        <p:spPr>
          <a:xfrm>
            <a:off x="6949440" y="22860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6949440" y="411480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CONFIDENTIALITY</a:t>
            </a:r>
            <a:endParaRPr lang="en-US" sz="550" dirty="0"/>
          </a:p>
        </p:txBody>
      </p:sp>
      <p:sp>
        <p:nvSpPr>
          <p:cNvPr id="19" name="Text 17"/>
          <p:cNvSpPr/>
          <p:nvPr/>
        </p:nvSpPr>
        <p:spPr>
          <a:xfrm>
            <a:off x="6949440" y="53035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PERFORMANCE PRESENTATION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2468880"/>
            <a:ext cx="5029200" cy="18288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651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3200400"/>
            <a:ext cx="5029200" cy="18288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3832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Date: October 12, 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7490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[Main Contractor]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0" y="731520"/>
            <a:ext cx="192024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03720" y="7772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2377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2926080"/>
            <a:ext cx="201168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0" y="36576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43800" y="4114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0" y="868680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749040" y="868680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Information &amp; Management Team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200400" y="1252728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749040" y="1252728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Performance Analytics Dossier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00400" y="1636776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749040" y="1636776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Performance Analytics Dossier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200400" y="2020824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749040" y="2020824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Detailed Quality Analysis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00400" y="2404872"/>
            <a:ext cx="384048" cy="237744"/>
          </a:xfrm>
          <a:prstGeom prst="rect">
            <a:avLst/>
          </a:prstGeom>
          <a:solidFill>
            <a:srgbClr val="C000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749040" y="2404872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Rejected Items Requiring Resubmission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200400" y="2788920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749040" y="2788920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Critical Pending Items Overdue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00400" y="47091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Intelligence  |  [October 2026]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PROJECT INFORMATION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Members &amp; Project Details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INFORMATION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688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0"/>
            <a:ext cx="2468880" cy="320040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Corp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37560" y="1371600"/>
            <a:ext cx="24688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1371600"/>
            <a:ext cx="2468880" cy="320040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429000" y="1737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Consultant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4688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1371600"/>
            <a:ext cx="2468880" cy="320040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/ PM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1737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Lead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017520"/>
            <a:ext cx="3840480" cy="32004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33832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754880" y="301752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3017520"/>
            <a:ext cx="3840480" cy="32004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 Manager / Team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33832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 Lead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MONTHLY PERFORMANCE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Executive Dashboard &amp; KPIs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PERFORMANCE &amp; KPI OVERVIEW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8412480" cy="475488"/>
          </a:xfrm>
          <a:prstGeom prst="roundRect">
            <a:avLst/>
          </a:prstGeom>
          <a:solidFill>
            <a:srgbClr val="203864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961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BRIEF &amp; INTELLIGENCE: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health is satisfactory at 65/100, but is experiencing minor delays in submittal flows. Focus should be given to closing out the current pending review queue of 0 items.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SHEETS (WORKLOAD)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Rev0: 0 | Further: 0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78308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ITEMS (CURRENT STATE)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2880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App: 0 | Rej: 0 | Pnd: 0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0040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RATE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4612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4612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target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1772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POPULATION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66344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6344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Pending: 0 | Rej Open: 0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6035040" y="1417320"/>
            <a:ext cx="1325880" cy="114300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8076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(OF ACTIVE)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08076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8076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 overdue rate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4523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PRIORITY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980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4980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Priority Attribute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365760" y="2651760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72491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PERFORMANCE INDEX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290779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1554480" y="303580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336499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BAND: GOOD / SATISFACTORY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57200" y="354787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STATUS: Controlled SLA Exposure (0 Overdue)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57200" y="3767328"/>
            <a:ext cx="256032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3794760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Math &amp; Audit Formula: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02920" y="395935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P1 (Approval Penalty - 35%): -35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P2 (Overdue Ratio - 35%): -0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P3 (Overdue Density - 30%): -0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3291840" y="2651760"/>
            <a:ext cx="54864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74720" y="2743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ANALYTICAL OBSERVATIONS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474720" y="2999232"/>
            <a:ext cx="512064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Approval Quality: Currently at 0.0%. Below the 80% benchmark, requiring pre-submission QA checks to reduce rework.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Active Backlog Status: All 0 active items (0 Rejected/Open and 0 Pending Review) are progressing within SLA limits with zero overdue items.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Cycle Analysis: Resubmissions represent 0.0% of total document workload, demonstrating significant rework volume.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STATUS CHARTS &amp; CRITICAL BOTTLENECKS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40233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3268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SUBMITTALS STATUS DISTRIBUTION (SSOT)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0" y="868680"/>
            <a:ext cx="4206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63440" y="93268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LOAD BY REGISTER TYPE (TOP 8)</a:t>
            </a:r>
            <a:endParaRPr lang="en-US" sz="8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663440" y="1170432"/>
          <a:ext cx="402336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3017520"/>
            <a:ext cx="8412480" cy="1719072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0632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CRITICAL OVERDUE BOTTLENECKS &amp; ACTION OWNERS: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375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377440"/>
                <a:gridCol w="914400"/>
                <a:gridCol w="914400"/>
                <a:gridCol w="914400"/>
                <a:gridCol w="164592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Document Reference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Discipline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Action Owner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Submission Date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#1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E293B"/>
                          </a:solidFill>
                        </a:rPr>
                        <a:t>ACE-NCR-L200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NCR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Landscape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126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</a:rPr>
                        <a:t>Lead Consultant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64748B"/>
                          </a:solidFill>
                        </a:rPr>
                        <a:t>2026-06-08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PRIMARY DETAIL REGISTER BREAKDOWN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1005840"/>
          <a:ext cx="86410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85800"/>
                <a:gridCol w="566928"/>
                <a:gridCol w="621792"/>
                <a:gridCol w="621792"/>
                <a:gridCol w="621792"/>
                <a:gridCol w="621792"/>
                <a:gridCol w="566928"/>
                <a:gridCol w="621792"/>
                <a:gridCol w="621792"/>
                <a:gridCol w="621792"/>
                <a:gridCol w="621792"/>
                <a:gridCol w="56692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Rev.00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Further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App/Cls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Rej/Opn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B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40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Unique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Appr.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Closed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13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NCR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65F46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91B1B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TOTAL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D5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65F46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91B1B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STRATEGIC RECOMMENDATIONS &amp; ACTION PLAN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097280"/>
            <a:ext cx="1097280" cy="256032"/>
          </a:xfrm>
          <a:prstGeom prst="roundRect">
            <a:avLst/>
          </a:prstGeom>
          <a:solidFill>
            <a:srgbClr val="FFF7ED"/>
          </a:solidFill>
          <a:ln w="6350">
            <a:solidFill>
              <a:srgbClr val="EA58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6916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on NCR Quality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Convene a focused technical alignment session between Innovo &amp; ACE teams specifically for NCR (which holds 1 active/open unique items) to align on submittal compliance.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097280"/>
            <a:ext cx="1097280" cy="256032"/>
          </a:xfrm>
          <a:prstGeom prst="roundRect">
            <a:avLst/>
          </a:prstGeom>
          <a:solidFill>
            <a:srgbClr val="EFF6FF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0350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 Pre-QA/QC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463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Strengthen internal QA/QC pre-submission checklists to improve first-time approval rates from 0.0% toward the 80%+ corporate target.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CUMULATIVE PERFORMANCE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Executive Dashboard &amp; KPIs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PERFORMANCE &amp; KPI OVERVIEW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8412480" cy="475488"/>
          </a:xfrm>
          <a:prstGeom prst="roundRect">
            <a:avLst/>
          </a:prstGeom>
          <a:solidFill>
            <a:srgbClr val="203864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961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BRIEF &amp; INTELLIGENCE: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health is satisfactory at 65/100, but is experiencing minor delays in submittal flows. Focus should be given to closing out the current pending review queue of 0 items.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SHEETS (WORKLOAD)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Rev0: 0 | Further: 0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78308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ITEMS (CURRENT STATE)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2880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App: 0 | Rej: 0 | Pnd: 0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0040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RATE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4612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4612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target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1772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POPULATION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66344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6344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Pending: 0 | Rej Open: 0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6035040" y="1417320"/>
            <a:ext cx="1325880" cy="114300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8076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(OF ACTIVE)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08076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8076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 overdue rate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4523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PRIORITY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980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4980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Priority Attribute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365760" y="2651760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72491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PERFORMANCE INDEX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290779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1554480" y="303580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336499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BAND: GOOD / SATISFACTORY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57200" y="354787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STATUS: Controlled SLA Exposure (0 Overdue)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57200" y="3767328"/>
            <a:ext cx="256032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3794760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Math &amp; Audit Formula: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02920" y="395935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P1 (Approval Penalty - 35%): -35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P2 (Overdue Ratio - 35%): -0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P3 (Overdue Density - 30%): -0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3291840" y="2651760"/>
            <a:ext cx="54864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74720" y="2743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ANALYTICAL OBSERVATIONS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474720" y="2999232"/>
            <a:ext cx="512064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Approval Quality: Currently at 0.0%. Below the 80% benchmark, requiring pre-submission QA checks to reduce rework.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Active Backlog Status: All 0 active items (0 Rejected/Open and 0 Pending Review) are progressing within SLA limits with zero overdue items.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Cycle Analysis: Resubmissions represent 0.0% of total document workload, demonstrating significant rework volume.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STATUS CHARTS &amp; CRITICAL BOTTLENECKS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40233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3268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SUBMITTALS STATUS DISTRIBUTION (SSOT)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0" y="868680"/>
            <a:ext cx="4206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63440" y="93268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LOAD BY REGISTER TYPE (TOP 8)</a:t>
            </a:r>
            <a:endParaRPr lang="en-US" sz="8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663440" y="1170432"/>
          <a:ext cx="402336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3017520"/>
            <a:ext cx="8412480" cy="1719072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0632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CRITICAL OVERDUE BOTTLENECKS &amp; ACTION OWNERS: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375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377440"/>
                <a:gridCol w="914400"/>
                <a:gridCol w="914400"/>
                <a:gridCol w="914400"/>
                <a:gridCol w="164592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Document Reference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Discipline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Action Owner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Submission Date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#1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E293B"/>
                          </a:solidFill>
                        </a:rPr>
                        <a:t>ACE-NCR-L200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NCR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Landscape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126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</a:rPr>
                        <a:t>Lead Consultant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64748B"/>
                          </a:solidFill>
                        </a:rPr>
                        <a:t>2026-06-08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PRIMARY DETAIL REGISTER BREAKDOWN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1005840"/>
          <a:ext cx="86410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85800"/>
                <a:gridCol w="566928"/>
                <a:gridCol w="621792"/>
                <a:gridCol w="621792"/>
                <a:gridCol w="621792"/>
                <a:gridCol w="621792"/>
                <a:gridCol w="566928"/>
                <a:gridCol w="621792"/>
                <a:gridCol w="621792"/>
                <a:gridCol w="621792"/>
                <a:gridCol w="621792"/>
                <a:gridCol w="56692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Rev.00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Further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App/Cls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Rej/Opn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B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40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Unique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Appr.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Closed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13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NCR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65F46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91B1B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TOTAL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D5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65F46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91B1B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STRATEGIC RECOMMENDATIONS &amp; ACTION PLAN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097280"/>
            <a:ext cx="1097280" cy="256032"/>
          </a:xfrm>
          <a:prstGeom prst="roundRect">
            <a:avLst/>
          </a:prstGeom>
          <a:solidFill>
            <a:srgbClr val="FFF7ED"/>
          </a:solidFill>
          <a:ln w="6350">
            <a:solidFill>
              <a:srgbClr val="EA58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6916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on NCR Quality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Convene a focused technical alignment session between Innovo &amp; ACE teams specifically for NCR (which holds 1 active/open unique items) to align on submittal compliance.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097280"/>
            <a:ext cx="1097280" cy="256032"/>
          </a:xfrm>
          <a:prstGeom prst="roundRect">
            <a:avLst/>
          </a:prstGeom>
          <a:solidFill>
            <a:srgbClr val="EFF6FF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0350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 Pre-QA/QC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463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Strengthen internal QA/QC pre-submission checklists to improve first-time approval rates from 0.0% toward the 80%+ corporate target.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NON-CONFORMANCE REPORT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Log &amp; Quality Charts for NON-CONFORMANCE REPORT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THIS PERIOD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43000"/>
          <a:ext cx="530352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30936"/>
                <a:gridCol w="630936"/>
                <a:gridCol w="630936"/>
                <a:gridCol w="548640"/>
                <a:gridCol w="640080"/>
                <a:gridCol w="621792"/>
                <a:gridCol w="667512"/>
              </a:tblGrid>
              <a:tr h="0">
                <a:tc gridSpan="8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&amp; REVISION WORKLOAD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Discipline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Unique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NCRs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Further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Source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5650992" y="1143000"/>
          <a:ext cx="321868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THIS PERIOD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</a:rPr>
              <a:t>NCR Quality Approval (This Period)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STR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Arch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200400" y="146304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59436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Mech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943600" y="146304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Elec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2004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Infra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2004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9436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Landscape</a:t>
            </a:r>
            <a:endParaRPr lang="en-US" sz="10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5943600" y="315468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CUMULATIVE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43000"/>
          <a:ext cx="530352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30936"/>
                <a:gridCol w="630936"/>
                <a:gridCol w="630936"/>
                <a:gridCol w="548640"/>
                <a:gridCol w="640080"/>
                <a:gridCol w="621792"/>
                <a:gridCol w="667512"/>
              </a:tblGrid>
              <a:tr h="0">
                <a:tc gridSpan="8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&amp; REVISION WORKLOAD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Discipline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Unique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NCRs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Further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Source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5650992" y="1143000"/>
          <a:ext cx="321868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CUMULATIVE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</a:rPr>
              <a:t>NCR Quality Approval (Cumulative)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STR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32004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Arch</a:t>
            </a:r>
            <a:endParaRPr lang="en-US" sz="10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3200400" y="146304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9436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Mech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5943600" y="146304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4572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Elec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4572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2004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Infra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32004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59436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Landscape</a:t>
            </a:r>
            <a:endParaRPr lang="en-US" sz="1000" dirty="0"/>
          </a:p>
        </p:txBody>
      </p:sp>
      <p:graphicFrame>
        <p:nvGraphicFramePr>
          <p:cNvPr id="15" name="Chart 2" descr=""/>
          <p:cNvGraphicFramePr/>
          <p:nvPr/>
        </p:nvGraphicFramePr>
        <p:xfrm>
          <a:off x="5943600" y="315468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II: DETAILED ANALYTICS DOSSIER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Analytics Dossier &amp; Complete Historical Registers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HISTORICAL REJECTION EVENTS / ROWS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Rejection Events &amp; Rows (Contractor Action)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REJECTION EVENTS / ROWS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515"/>
                </a:solidFill>
              </a:rPr>
              <a:t>Historical Rejection Events / Rows by Delay (Total: 1) - Page 1 of 1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926080"/>
                <a:gridCol w="1371600"/>
                <a:gridCol w="20116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Type of Documents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 / Link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Trade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7A1515"/>
                          </a:solidFill>
                        </a:rPr>
                        <a:t>NCR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ACE-NCR-A100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Architectural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00000"/>
                          </a:solidFill>
                        </a:rPr>
                        <a:t>Overdue 8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PENDING ITEMS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 Requiring Response (Consultant Action)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ITEMS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92F"/>
                </a:solidFill>
              </a:rPr>
              <a:t>Pending Review Items Overdue by SLA (Total: 1) - Page 1 of 1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926080"/>
                <a:gridCol w="1371600"/>
                <a:gridCol w="20116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Type of Documents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 / Link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Trade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A192F"/>
                          </a:solidFill>
                        </a:rPr>
                        <a:t>NCR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ACE-NCR-L200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Landscape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00000"/>
                          </a:solidFill>
                        </a:rPr>
                        <a:t>Overdue 126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 Team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Corporate Management Report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StructuSight Intelligence - Presentation Report</dc:title>
  <dc:subject>PptxGenJS Presentation</dc:subject>
  <dc:creator>StructuSight Engineering Intelligence Platform</dc:creator>
  <cp:lastModifiedBy>StructuSight Engineering Intelligence Platform</cp:lastModifiedBy>
  <cp:revision>1</cp:revision>
  <dcterms:created xsi:type="dcterms:W3CDTF">2026-10-12T14:25:27Z</dcterms:created>
  <dcterms:modified xsi:type="dcterms:W3CDTF">2026-10-12T14:25:27Z</dcterms:modified>
</cp:coreProperties>
</file>