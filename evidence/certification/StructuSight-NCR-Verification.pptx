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 00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NCR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Revs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NCR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 00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NCR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Revs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NCR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Rev.00 Rows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Rev. Rows</c:v>
                </c:pt>
              </c:strCache>
            </c:strRef>
          </c:tx>
          <c:spPr>
            <a:solidFill>
              <a:srgbClr val="BDD7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Closed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Pending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Rev.00 Rows</c:v>
                </c:pt>
              </c:strCache>
            </c:strRef>
          </c:tx>
          <c:spPr>
            <a:solidFill>
              <a:srgbClr val="2F7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Further Rev. Rows</c:v>
                </c:pt>
              </c:strCache>
            </c:strRef>
          </c:tx>
          <c:spPr>
            <a:solidFill>
              <a:srgbClr val="BDD7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STR</c:v>
                  </c:pt>
                  <c:pt idx="1">
                    <c:v>Arch</c:v>
                  </c:pt>
                  <c:pt idx="2">
                    <c:v>Mech</c:v>
                  </c:pt>
                  <c:pt idx="3">
                    <c:v>Elec</c:v>
                  </c:pt>
                  <c:pt idx="4">
                    <c:v>Infra</c:v>
                  </c:pt>
                  <c:pt idx="5">
                    <c:v>Landscape</c:v>
                  </c:pt>
                  <c:pt idx="6">
                    <c:v>HSE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Closed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Closed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Pending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RUCTUSIGH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Enterprise Report  |  Generated: 11 October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046720" y="91440"/>
            <a:ext cx="8229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91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0" y="1097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4754880" y="228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StructuSight NCR Rem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754880" y="41148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PARCEL/CODE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754880" y="530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SS-NCR-01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852160" y="1097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852160" y="228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852160" y="41148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852160" y="530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Consultant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949440" y="1097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6949440" y="228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6949440" y="530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PERFORMANCE PRESENTATION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5029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5029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Date: October 11,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[Main Contractor]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731520"/>
            <a:ext cx="19202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777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926080"/>
            <a:ext cx="201168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365760"/>
            <a:ext cx="12801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411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868680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8686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 &amp; Management Team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252728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0" y="12527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Analytics Dossier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636776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16367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Performance Analytics Dossier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2020824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20208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Detailed Quality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2404872"/>
            <a:ext cx="384048" cy="237744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49040" y="24048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Rejected Items Requiring Resubmission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0" y="2788920"/>
            <a:ext cx="384048" cy="237744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278892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Critical Pending Items Overdue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4709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Intelligence  |  [October 2026]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PROJECT INFORMATION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&amp; Project Details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Corp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371600"/>
            <a:ext cx="2468880" cy="32004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Consultant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468880" cy="32004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/ 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Lead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017520"/>
            <a:ext cx="3840480" cy="32004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Manager / Team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Lead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MONTHLY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Executive Dashboard &amp; KPIs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&amp; KPI OVERVIEW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75488"/>
          </a:xfrm>
          <a:prstGeom prst="roundRect">
            <a:avLst/>
          </a:prstGeom>
          <a:solidFill>
            <a:srgbClr val="20386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BRIEF &amp; INTELLIGENCE: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health is satisfactory at 65/100, but is experiencing minor delays in submittal flows. Focus should be given to closing out the current pending review queue of 0 items.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SHEETS (WORKLOAD)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Rev0: 0 | Further: 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ITEMS (CURRENT STATE)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0 | Rej: 0 | Pnd: 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4612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POPULATION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Pending: 0 | Rej Open: 0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1325880" cy="1143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(OF ACTIVE)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076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 overdue rate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4523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PRIORITY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Priority Attribute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PERFORMANCE INDEX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544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3649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BAND: GOOD / SATISFACTORY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3547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STATUS: Controlled SLA Exposure (0 Overdue)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256032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94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Math &amp; Audit Formula: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" y="39593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P1 (Approval Penalty - 35%): -35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P2 (Overdue Ratio - 35%): -0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P3 (Overdue Density - 30%): -0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91840" y="2651760"/>
            <a:ext cx="5486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743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ANALYTICAL OBSERVATIONS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2999232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Quality: Currently at 0.0%. Below the 80% benchmark, requiring pre-submission QA checks to reduce rework.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Backlog Status: All 0 active items (0 Rejected/Open and 0 Pending Review) are progressing within SLA limits with zero overdue items.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Cycle Analysis: Resubmissions represent 0.0% of total document workload, demonstrating significant rework volume.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STATUS CHARTS &amp; CRITICAL BOTTLENECKS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SUBMITTALS STATUS DISTRIBUTION (SSOT)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4206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9326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LOAD BY REGISTER TYPE (TOP 8)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663440" y="1170432"/>
          <a:ext cx="40233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017520"/>
            <a:ext cx="8412480" cy="171907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CRITICAL OVERDUE BOTTLENECKS &amp; ACTION OWNERS: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914400"/>
                <a:gridCol w="914400"/>
                <a:gridCol w="914400"/>
                <a:gridCol w="16459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Document Reference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Discipline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Delay Days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Submission Date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E123C"/>
                          </a:solidFill>
                        </a:rPr>
                        <a:t>#1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ACE-NCR-L200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NCR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Landscape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E123C"/>
                          </a:solidFill>
                        </a:rPr>
                        <a:t>125 days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Lead Consultant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2026-06-08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PRIMARY DETAIL REGISTER BREAKDOWN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05840"/>
          <a:ext cx="8641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566928"/>
                <a:gridCol w="621792"/>
                <a:gridCol w="621792"/>
                <a:gridCol w="621792"/>
                <a:gridCol w="621792"/>
                <a:gridCol w="566928"/>
                <a:gridCol w="621792"/>
                <a:gridCol w="621792"/>
                <a:gridCol w="621792"/>
                <a:gridCol w="621792"/>
                <a:gridCol w="5669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Rev.00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Further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App/Cls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Rej/Opn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Unique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Appr.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NCR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STRATEGIC RECOMMENDATIONS &amp; ACTION PLAN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1097280" cy="256032"/>
          </a:xfrm>
          <a:prstGeom prst="roundRect">
            <a:avLst/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6916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NCR Quality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Convene a focused technical alignment session between Innovo &amp; ACE teams specifically for NCR (which holds 2 active/open unique items) to align on submittal compliance.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97280"/>
            <a:ext cx="1097280" cy="256032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Pre-QA/QC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internal QA/QC pre-submission checklists to improve first-time approval rates from 0.0% toward the 80%+ corporate target.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CUMULATIVE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Executive Dashboard &amp; KPIs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PERFORMANCE &amp; KPI OVERVIEW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75488"/>
          </a:xfrm>
          <a:prstGeom prst="roundRect">
            <a:avLst/>
          </a:prstGeom>
          <a:solidFill>
            <a:srgbClr val="20386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BRIEF &amp; INTELLIGENCE: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health is satisfactory at 65/100, but is experiencing minor delays in submittal flows. Focus should be given to closing out the current pending review queue of 0 items.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SHEETS (WORKLOAD)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Rev0: 0 | Further: 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ITEMS (CURRENT STATE)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0 | Rej: 0 | Pnd: 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4612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13258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POPULATION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Pending: 0 | Rej Open: 0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1325880" cy="1143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(OF ACTIVE)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076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 overdue rate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452360" y="1417320"/>
            <a:ext cx="1325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5087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PRIORITY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1737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2194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Priority Attribute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27432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PERFORMANCE INDEX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544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3649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BAND: GOOD / SATISFACTORY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3547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STATUS: Controlled SLA Exposure (0 Overdue)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256032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947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Math &amp; Audit Formula: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" y="39593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P1 (Approval Penalty - 35%): -35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P2 (Overdue Ratio - 35%): -0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P3 (Overdue Density - 30%): -0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91840" y="2651760"/>
            <a:ext cx="54864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743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ANALYTICAL OBSERVATIONS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2999232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Quality: Currently at 0.0%. Below the 80% benchmark, requiring pre-submission QA checks to reduce rework.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Backlog Status: All 0 active items (0 Rejected/Open and 0 Pending Review) are progressing within SLA limits with zero overdue items.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Cycle Analysis: Resubmissions represent 0.0% of total document workload, demonstrating significant rework volume.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STATUS CHARTS &amp; CRITICAL BOTTLENECKS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SUBMITTALS STATUS DISTRIBUTION (SSOT)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4206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9326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LOAD BY REGISTER TYPE (TOP 8)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663440" y="1170432"/>
          <a:ext cx="40233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017520"/>
            <a:ext cx="8412480" cy="171907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CRITICAL OVERDUE BOTTLENECKS &amp; ACTION OWNERS: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914400"/>
                <a:gridCol w="914400"/>
                <a:gridCol w="914400"/>
                <a:gridCol w="16459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Document Reference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Discipline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Delay Days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Submission Date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E123C"/>
                          </a:solidFill>
                        </a:rPr>
                        <a:t>#1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ACE-NCR-L200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NCR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Landscape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E123C"/>
                          </a:solidFill>
                        </a:rPr>
                        <a:t>125 days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Lead Consultant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2026-06-08</a:t>
                      </a:r>
                      <a:endParaRPr lang="en-US" sz="7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PRIMARY DETAIL REGISTER BREAKDOWN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05840"/>
          <a:ext cx="8641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566928"/>
                <a:gridCol w="621792"/>
                <a:gridCol w="621792"/>
                <a:gridCol w="621792"/>
                <a:gridCol w="621792"/>
                <a:gridCol w="566928"/>
                <a:gridCol w="621792"/>
                <a:gridCol w="621792"/>
                <a:gridCol w="621792"/>
                <a:gridCol w="621792"/>
                <a:gridCol w="5669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Rev.00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Further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App/Cls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Rej/Opn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Unique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Appr.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 Rej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Cur.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NCR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0386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E12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1337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STRATEGIC RECOMMENDATIONS &amp; ACTION PLAN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1097280" cy="256032"/>
          </a:xfrm>
          <a:prstGeom prst="roundRect">
            <a:avLst/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6916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NCR Quality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Convene a focused technical alignment session between Innovo &amp; ACE teams specifically for NCR (which holds 2 active/open unique items) to align on submittal compliance.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97280"/>
            <a:ext cx="1097280" cy="256032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Pre-QA/QC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7947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904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internal QA/QC pre-submission checklists to improve first-time approval rates from 0.0% toward the 80%+ corporate target.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NON-CONFORMANCE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Log &amp; Quality Charts for NON-CONFORMANCE REPORT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THIS PERIOD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932688"/>
                <a:gridCol w="630936"/>
                <a:gridCol w="630936"/>
                <a:gridCol w="630936"/>
                <a:gridCol w="548640"/>
                <a:gridCol w="640080"/>
                <a:gridCol w="621792"/>
                <a:gridCol w="667512"/>
              </a:tblGrid>
              <a:tr h="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&amp; REVISION WORKLOAD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Discipline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Further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50992" y="1143000"/>
          <a:ext cx="321868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THIS PERIOD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NCR Quality Approval (This Period)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STR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Arch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0" y="146304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9436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Mech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Elec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Infra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Landscape</a:t>
            </a:r>
            <a:endParaRPr lang="en-US" sz="10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943600" y="315468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CUMULATIVE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932688"/>
                <a:gridCol w="630936"/>
                <a:gridCol w="630936"/>
                <a:gridCol w="630936"/>
                <a:gridCol w="548640"/>
                <a:gridCol w="640080"/>
                <a:gridCol w="621792"/>
                <a:gridCol w="667512"/>
              </a:tblGrid>
              <a:tr h="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&amp; REVISION WORKLOAD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Discipline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Further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9050" marR="19050" marT="25400" marB="254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50992" y="1143000"/>
          <a:ext cx="321868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 (NCR) CUMULATIVE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NCR Quality Approval (Cumulative)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STR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Arch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200400" y="146304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9436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Mech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43600" y="14630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Elec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004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Infra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No Data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436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Landscape</a:t>
            </a:r>
            <a:endParaRPr lang="en-US" sz="100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5943600" y="3154680"/>
          <a:ext cx="2377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II: DETAILED ANALYTICS DOSSIER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Analytics Dossier &amp; Complete Historical Registers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HISTORICAL REJECTION EVENTS / ROWS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Rejection Events &amp; Rows (Contractor Action)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REJECTION EVENTS / ROWS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515"/>
                </a:solidFill>
              </a:rPr>
              <a:t>Historical Rejection Events / Rows by Delay (Total: 1) - Page 1 of 1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2926080"/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Type of Documents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 / Link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Trade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Delay Days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51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A1515"/>
                          </a:solidFill>
                        </a:rPr>
                        <a:t>NCR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ACE-NCR-A100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Architectural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</a:rPr>
                        <a:t>Overdue 8 days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PENDING ITEMS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Requiring Response (Consultant Action)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ITEMS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</a:rPr>
              <a:t>Pending Review Items Overdue by SLA (Total: 1) - Page 1 of 1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2926080"/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Type of Documents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Ref / Link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Trade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Delay Days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A192F"/>
                          </a:solidFill>
                        </a:rPr>
                        <a:t>NCR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ACE-NCR-L200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</a:rPr>
                        <a:t>Landscape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</a:rPr>
                        <a:t>Overdue 125 days</a:t>
                      </a:r>
                      <a:endParaRPr lang="en-US" sz="85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8289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411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[StructuSight NCR Remediation Verification]  |  Document Control Analytics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Corporate Management 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StructuSight Intelligence - Presentation Report</dc:title>
  <dc:subject>PptxGenJS Presentation</dc:subject>
  <dc:creator>StructuSight Engineering Intelligence Platform</dc:creator>
  <cp:lastModifiedBy>StructuSight Engineering Intelligence Platform</cp:lastModifiedBy>
  <cp:revision>1</cp:revision>
  <dcterms:created xsi:type="dcterms:W3CDTF">2026-10-11T15:05:56Z</dcterms:created>
  <dcterms:modified xsi:type="dcterms:W3CDTF">2026-10-11T15:05:56Z</dcterms:modified>
</cp:coreProperties>
</file>